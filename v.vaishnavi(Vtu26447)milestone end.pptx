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8F6417-1970-4DF1-B920-38ECA8403356}" v="20" dt="2026-05-05T14:57:13.4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19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3</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447800" y="59817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V.Vaishnavi</a:t>
            </a:r>
            <a:r>
              <a:rPr lang="en-US" sz="3000" dirty="0">
                <a:latin typeface="Cambria" panose="02040503050406030204" pitchFamily="18" charset="0"/>
                <a:ea typeface="Cambria" panose="02040503050406030204" pitchFamily="18" charset="0"/>
              </a:rPr>
              <a:t>– VTU26447– 23UECS0604</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err="1">
                <a:latin typeface="Cambria" panose="02040503050406030204" pitchFamily="18" charset="0"/>
                <a:ea typeface="Cambria" panose="02040503050406030204" pitchFamily="18" charset="0"/>
              </a:rPr>
              <a:t>Dr.S.HEMAMLINI,M.E.,PH.D</a:t>
            </a:r>
            <a:r>
              <a:rPr lang="en-US" sz="3000" dirty="0">
                <a:latin typeface="Cambria" panose="02040503050406030204" pitchFamily="18" charset="0"/>
                <a:ea typeface="Cambria" panose="02040503050406030204" pitchFamily="18" charset="0"/>
              </a:rPr>
              <a:t>.,</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F896874-3B60-6809-7A22-A9BC5EEBD209}"/>
              </a:ext>
            </a:extLst>
          </p:cNvPr>
          <p:cNvSpPr txBox="1"/>
          <p:nvPr/>
        </p:nvSpPr>
        <p:spPr>
          <a:xfrm>
            <a:off x="1981200" y="2005171"/>
            <a:ext cx="15011400" cy="6494085"/>
          </a:xfrm>
          <a:prstGeom prst="rect">
            <a:avLst/>
          </a:prstGeom>
          <a:noFill/>
        </p:spPr>
        <p:txBody>
          <a:bodyPr wrap="square">
            <a:spAutoFit/>
          </a:bodyPr>
          <a:lstStyle/>
          <a:p>
            <a:r>
              <a:rPr lang="en-US" sz="3200" dirty="0">
                <a:cs typeface="Times New Roman" panose="02020603050405020304" pitchFamily="18" charset="0"/>
              </a:rPr>
              <a:t>The </a:t>
            </a:r>
            <a:r>
              <a:rPr lang="en-US" sz="3200" i="1" dirty="0">
                <a:cs typeface="Times New Roman" panose="02020603050405020304" pitchFamily="18" charset="0"/>
              </a:rPr>
              <a:t>Smart Campus Event Platform</a:t>
            </a:r>
            <a:r>
              <a:rPr lang="en-US" sz="3200" dirty="0">
                <a:cs typeface="Times New Roman" panose="02020603050405020304" pitchFamily="18" charset="0"/>
              </a:rPr>
              <a:t> is a web-based application designed to simplify and</a:t>
            </a:r>
          </a:p>
          <a:p>
            <a:r>
              <a:rPr lang="en-US" sz="3200" dirty="0">
                <a:cs typeface="Times New Roman" panose="02020603050405020304" pitchFamily="18" charset="0"/>
              </a:rPr>
              <a:t> automate event management in educational institutions. Traditional event management methods rely on manual processes such as paper-based registration, attendance marking, and certificate distribution, which are time-consuming and prone to </a:t>
            </a:r>
            <a:r>
              <a:rPr lang="en-US" sz="3200" dirty="0" err="1">
                <a:cs typeface="Times New Roman" panose="02020603050405020304" pitchFamily="18" charset="0"/>
              </a:rPr>
              <a:t>errors.This</a:t>
            </a:r>
            <a:r>
              <a:rPr lang="en-US" sz="3200" dirty="0">
                <a:cs typeface="Times New Roman" panose="02020603050405020304" pitchFamily="18" charset="0"/>
              </a:rPr>
              <a:t> platform provides a centralized system where administrators can efficiently create, update, and manage events, while students can easily explore and register for them. It includes essential features such as secure user authentication, event discovery, digital attendance tracking, automated certificate generation, and real-time </a:t>
            </a:r>
            <a:r>
              <a:rPr lang="en-US" sz="3200" dirty="0" err="1">
                <a:cs typeface="Times New Roman" panose="02020603050405020304" pitchFamily="18" charset="0"/>
              </a:rPr>
              <a:t>notifications.The</a:t>
            </a:r>
            <a:r>
              <a:rPr lang="en-US" sz="3200" dirty="0">
                <a:cs typeface="Times New Roman" panose="02020603050405020304" pitchFamily="18" charset="0"/>
              </a:rPr>
              <a:t> system is developed using modern technologies like React.js for the frontend and PHP with MySQL for the backend, ensuring smooth performance and secure data </a:t>
            </a:r>
            <a:r>
              <a:rPr lang="en-US" sz="3200" dirty="0" err="1">
                <a:cs typeface="Times New Roman" panose="02020603050405020304" pitchFamily="18" charset="0"/>
              </a:rPr>
              <a:t>handling.Overall</a:t>
            </a:r>
            <a:r>
              <a:rPr lang="en-US" sz="3200" dirty="0">
                <a:cs typeface="Times New Roman" panose="02020603050405020304" pitchFamily="18" charset="0"/>
              </a:rPr>
              <a:t>, the platform improves efficiency, reduces manual workload, and ensures a better user experience, making it a reliable solution for managing campus events effectively.</a:t>
            </a:r>
          </a:p>
          <a:p>
            <a:pPr>
              <a:buNone/>
            </a:pP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1905000" y="1662656"/>
            <a:ext cx="15082325" cy="8141331"/>
          </a:xfrm>
          <a:prstGeom prst="rect">
            <a:avLst/>
          </a:prstGeom>
          <a:noFill/>
        </p:spPr>
        <p:txBody>
          <a:bodyPr wrap="square" rtlCol="0">
            <a:spAutoFit/>
          </a:bodyPr>
          <a:lstStyle/>
          <a:p>
            <a:pPr algn="just">
              <a:lnSpc>
                <a:spcPct val="150000"/>
              </a:lnSpc>
              <a:buNone/>
            </a:pPr>
            <a:r>
              <a:rPr lang="en-US" sz="3200" dirty="0"/>
              <a:t>In many campuses, event management is still handled manually or through multiple unorganized platforms, leading to poor communication and missed updates. Organizers face difficulties in managing event details and tracking participant registrations efficiently, while students often lack a centralized system to discover and register for events. These manual processes increase the chances of errors, data mismanagement, and reduced participation. There is also no proper mechanism to monitor event engagement and performance. Therefore, there is a need for a simple, reliable, and automated system that centralizes all event-related activities. The proposed Smart Campus Event Management System aims to address these issues by improving efficiency, accuracy, and accessibility.</a:t>
            </a:r>
          </a:p>
          <a:p>
            <a:pPr algn="just">
              <a:lnSpc>
                <a:spcPct val="150000"/>
              </a:lnSpc>
            </a:pPr>
            <a:endParaRPr lang="en-IN" sz="3200" dirty="0"/>
          </a:p>
          <a:p>
            <a:pPr algn="just">
              <a:lnSpc>
                <a:spcPct val="150000"/>
              </a:lnSpc>
            </a:pPr>
            <a:endParaRPr lang="en-IN"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176975" y="1423954"/>
            <a:ext cx="15082325" cy="8427820"/>
          </a:xfrm>
          <a:prstGeom prst="rect">
            <a:avLst/>
          </a:prstGeom>
          <a:noFill/>
        </p:spPr>
        <p:txBody>
          <a:bodyPr wrap="square" rtlCol="0">
            <a:spAutoFit/>
          </a:bodyPr>
          <a:lstStyle/>
          <a:p>
            <a:pPr>
              <a:lnSpc>
                <a:spcPct val="150000"/>
              </a:lnSpc>
            </a:pPr>
            <a:r>
              <a:rPr lang="en-US" sz="2800" b="1" dirty="0"/>
              <a:t>To design and develop a Smart Campus Event Management System:</a:t>
            </a:r>
            <a:br>
              <a:rPr lang="en-US" sz="2800" dirty="0"/>
            </a:br>
            <a:r>
              <a:rPr lang="en-US" sz="2800" dirty="0"/>
              <a:t>To create a centralized platform for managing campus events.</a:t>
            </a:r>
            <a:br>
              <a:rPr lang="en-US" sz="2800" dirty="0"/>
            </a:br>
            <a:r>
              <a:rPr lang="en-US" sz="2800" dirty="0"/>
              <a:t>To design a user-friendly interface for easy event access and management.</a:t>
            </a:r>
          </a:p>
          <a:p>
            <a:pPr>
              <a:lnSpc>
                <a:spcPct val="150000"/>
              </a:lnSpc>
            </a:pPr>
            <a:r>
              <a:rPr lang="en-US" sz="2800" b="1" dirty="0"/>
              <a:t>To implement an automated event management process:</a:t>
            </a:r>
            <a:br>
              <a:rPr lang="en-US" sz="2800" dirty="0"/>
            </a:br>
            <a:r>
              <a:rPr lang="en-US" sz="2800" dirty="0"/>
              <a:t>To enable event creation, registration, and tracking digitally.</a:t>
            </a:r>
            <a:br>
              <a:rPr lang="en-US" sz="2800" dirty="0"/>
            </a:br>
            <a:r>
              <a:rPr lang="en-US" sz="2800" dirty="0"/>
              <a:t>To ensure real-time updates and notifications for users.</a:t>
            </a:r>
          </a:p>
          <a:p>
            <a:pPr>
              <a:lnSpc>
                <a:spcPct val="150000"/>
              </a:lnSpc>
            </a:pPr>
            <a:r>
              <a:rPr lang="en-US" sz="2800" b="1" dirty="0"/>
              <a:t>To improve system efficiency:</a:t>
            </a:r>
            <a:br>
              <a:rPr lang="en-US" sz="2800" dirty="0"/>
            </a:br>
            <a:r>
              <a:rPr lang="en-US" sz="2800" dirty="0"/>
              <a:t>To streamline communication between organizers and participants.</a:t>
            </a:r>
            <a:br>
              <a:rPr lang="en-US" sz="2800" dirty="0"/>
            </a:br>
            <a:r>
              <a:rPr lang="en-US" sz="2800" dirty="0"/>
              <a:t>To reduce manual work and data management errors.</a:t>
            </a:r>
          </a:p>
          <a:p>
            <a:pPr>
              <a:lnSpc>
                <a:spcPct val="150000"/>
              </a:lnSpc>
            </a:pPr>
            <a:r>
              <a:rPr lang="en-US" sz="2800" b="1" dirty="0"/>
              <a:t>To evaluate performance of the system:</a:t>
            </a:r>
            <a:br>
              <a:rPr lang="en-US" sz="2800" dirty="0"/>
            </a:br>
            <a:r>
              <a:rPr lang="en-US" sz="2800" dirty="0"/>
              <a:t>To measure system reliability during multiple event operations.</a:t>
            </a:r>
            <a:br>
              <a:rPr lang="en-US" sz="2800" dirty="0"/>
            </a:br>
            <a:r>
              <a:rPr lang="en-US" sz="2800" dirty="0"/>
              <a:t>To analyze user experience and overall system effectiveness.</a:t>
            </a:r>
          </a:p>
          <a:p>
            <a:pPr marL="457200" indent="-457200">
              <a:lnSpc>
                <a:spcPct val="150000"/>
              </a:lnSpc>
              <a:buFontTx/>
              <a:buChar char="-"/>
            </a:pPr>
            <a:endParaRPr lang="en-IN" sz="2800" dirty="0"/>
          </a:p>
        </p:txBody>
      </p:sp>
      <p:sp>
        <p:nvSpPr>
          <p:cNvPr id="2" name="Rectangle 1">
            <a:extLst>
              <a:ext uri="{FF2B5EF4-FFF2-40B4-BE49-F238E27FC236}">
                <a16:creationId xmlns:a16="http://schemas.microsoft.com/office/drawing/2014/main" id="{E9621A96-875C-D437-60CA-A86CF997A0C5}"/>
              </a:ext>
            </a:extLst>
          </p:cNvPr>
          <p:cNvSpPr>
            <a:spLocks noChangeArrowheads="1"/>
          </p:cNvSpPr>
          <p:nvPr/>
        </p:nvSpPr>
        <p:spPr bwMode="auto">
          <a:xfrm flipH="1">
            <a:off x="-838199" y="-184666"/>
            <a:ext cx="838200" cy="3727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057400" y="1811498"/>
            <a:ext cx="15082325" cy="6664004"/>
          </a:xfrm>
          <a:prstGeom prst="rect">
            <a:avLst/>
          </a:prstGeom>
          <a:noFill/>
        </p:spPr>
        <p:txBody>
          <a:bodyPr wrap="square" rtlCol="0">
            <a:spAutoFit/>
          </a:bodyPr>
          <a:lstStyle/>
          <a:p>
            <a:pPr algn="just">
              <a:lnSpc>
                <a:spcPct val="150000"/>
              </a:lnSpc>
            </a:pPr>
            <a:r>
              <a:rPr lang="en-US" sz="3200" dirty="0"/>
              <a:t>The proposed solution is a web-based Smart Campus Event Management System that centralizes all event-related activities on a single platform. It allows organizers to create, update, and manage events digitally, while students can easily browse, register, and receive notifications about upcoming events. This system eliminates manual processes, reducing errors and improving data management. It effectively addresses issues such as poor communication, missed updates, and lack of coordination. Real-time notifications enhance interaction between organizers and participants. Compared to existing systems, it offers better automation, improved accuracy, and faster access to information. Overall, it increases efficiency, saves time, and provides a better user experience.</a:t>
            </a:r>
            <a:endParaRPr lang="en-IN"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90500" y="35958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AutoShape 2" descr="Generated image">
            <a:extLst>
              <a:ext uri="{FF2B5EF4-FFF2-40B4-BE49-F238E27FC236}">
                <a16:creationId xmlns:a16="http://schemas.microsoft.com/office/drawing/2014/main" id="{0B729CF5-CA7E-EE5B-7E10-F943345938F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a:extLst>
              <a:ext uri="{FF2B5EF4-FFF2-40B4-BE49-F238E27FC236}">
                <a16:creationId xmlns:a16="http://schemas.microsoft.com/office/drawing/2014/main" id="{DB36FB94-6857-2A93-495E-EBEC258E4594}"/>
              </a:ext>
            </a:extLst>
          </p:cNvPr>
          <p:cNvSpPr txBox="1"/>
          <p:nvPr/>
        </p:nvSpPr>
        <p:spPr>
          <a:xfrm>
            <a:off x="5755558" y="21811"/>
            <a:ext cx="11511116" cy="369332"/>
          </a:xfrm>
          <a:prstGeom prst="rect">
            <a:avLst/>
          </a:prstGeom>
          <a:noFill/>
        </p:spPr>
        <p:txBody>
          <a:bodyPr wrap="square">
            <a:spAutoFit/>
          </a:bodyPr>
          <a:lstStyle/>
          <a:p>
            <a:endParaRPr lang="en-IN" dirty="0"/>
          </a:p>
        </p:txBody>
      </p:sp>
      <p:sp>
        <p:nvSpPr>
          <p:cNvPr id="33" name="TextBox 32">
            <a:extLst>
              <a:ext uri="{FF2B5EF4-FFF2-40B4-BE49-F238E27FC236}">
                <a16:creationId xmlns:a16="http://schemas.microsoft.com/office/drawing/2014/main" id="{2C3C8748-212A-3A66-31E8-40518247EB3F}"/>
              </a:ext>
            </a:extLst>
          </p:cNvPr>
          <p:cNvSpPr txBox="1"/>
          <p:nvPr/>
        </p:nvSpPr>
        <p:spPr>
          <a:xfrm>
            <a:off x="5755558" y="21811"/>
            <a:ext cx="11511116" cy="369332"/>
          </a:xfrm>
          <a:prstGeom prst="rect">
            <a:avLst/>
          </a:prstGeom>
          <a:noFill/>
        </p:spPr>
        <p:txBody>
          <a:bodyPr wrap="square">
            <a:spAutoFit/>
          </a:bodyPr>
          <a:lstStyle/>
          <a:p>
            <a:endParaRPr lang="en-IN" dirty="0"/>
          </a:p>
        </p:txBody>
      </p:sp>
      <p:pic>
        <p:nvPicPr>
          <p:cNvPr id="40" name="Picture 39">
            <a:extLst>
              <a:ext uri="{FF2B5EF4-FFF2-40B4-BE49-F238E27FC236}">
                <a16:creationId xmlns:a16="http://schemas.microsoft.com/office/drawing/2014/main" id="{0BA86545-D59E-11AF-47B0-6730F721DBFE}"/>
              </a:ext>
            </a:extLst>
          </p:cNvPr>
          <p:cNvPicPr>
            <a:picLocks noChangeAspect="1"/>
          </p:cNvPicPr>
          <p:nvPr/>
        </p:nvPicPr>
        <p:blipFill>
          <a:blip r:embed="rId3"/>
          <a:stretch>
            <a:fillRect/>
          </a:stretch>
        </p:blipFill>
        <p:spPr>
          <a:xfrm>
            <a:off x="2895600" y="1584285"/>
            <a:ext cx="11700111" cy="66646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3A4CA15-2854-C5CA-FF2E-7DFE6545C1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2600" y="1638300"/>
            <a:ext cx="6858000" cy="8077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flipH="1">
            <a:off x="977741" y="2648698"/>
            <a:ext cx="657266"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  </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D8223C2-585E-95A7-B9BD-AE6962CE8725}"/>
              </a:ext>
            </a:extLst>
          </p:cNvPr>
          <p:cNvSpPr txBox="1"/>
          <p:nvPr/>
        </p:nvSpPr>
        <p:spPr>
          <a:xfrm>
            <a:off x="2362200" y="2015466"/>
            <a:ext cx="12268200" cy="6186309"/>
          </a:xfrm>
          <a:prstGeom prst="rect">
            <a:avLst/>
          </a:prstGeom>
          <a:noFill/>
        </p:spPr>
        <p:txBody>
          <a:bodyPr wrap="square">
            <a:spAutoFit/>
          </a:bodyPr>
          <a:lstStyle/>
          <a:p>
            <a:r>
              <a:rPr lang="en-IN" sz="3600" dirty="0"/>
              <a:t>1. Frontend: React.js with Vite for a fast, responsive user interface.</a:t>
            </a:r>
          </a:p>
          <a:p>
            <a:r>
              <a:rPr lang="en-IN" sz="3600" dirty="0"/>
              <a:t>2. Backend: PHP for the server-side API logic and data processing.</a:t>
            </a:r>
          </a:p>
          <a:p>
            <a:r>
              <a:rPr lang="en-IN" sz="3600" dirty="0"/>
              <a:t>3. Database: MySQL with PHP PDO for secure, structured data storage.</a:t>
            </a:r>
          </a:p>
          <a:p>
            <a:r>
              <a:rPr lang="en-IN" sz="3600" dirty="0"/>
              <a:t>4. Languages: JavaScript (frontend), PHP (backend), SQL (data), CSS3, and HTML5.</a:t>
            </a:r>
          </a:p>
          <a:p>
            <a:r>
              <a:rPr lang="en-IN" sz="3600" dirty="0"/>
              <a:t>5. Tools: XAMPP (Apache/MySQL), Node.js, and Axios for API communication</a:t>
            </a:r>
            <a:r>
              <a:rPr lang="en-IN" dirty="0"/>
              <a:t>.</a:t>
            </a:r>
          </a:p>
          <a:p>
            <a:r>
              <a:rPr lang="en-IN" sz="3600" dirty="0"/>
              <a:t>6.API TOOLS: </a:t>
            </a:r>
            <a:r>
              <a:rPr lang="en-IN" sz="3600" dirty="0" err="1"/>
              <a:t>Sendgrid</a:t>
            </a:r>
            <a:r>
              <a:rPr lang="en-IN" sz="3600"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1728051" y="1818103"/>
            <a:ext cx="16102750" cy="7319824"/>
          </a:xfrm>
          <a:prstGeom prst="rect">
            <a:avLst/>
          </a:prstGeom>
          <a:noFill/>
        </p:spPr>
        <p:txBody>
          <a:bodyPr wrap="square" rtlCol="0">
            <a:spAutoFit/>
          </a:bodyPr>
          <a:lstStyle/>
          <a:p>
            <a:r>
              <a:rPr lang="en-US" sz="3200" b="1" dirty="0"/>
              <a:t>1. Authentication &amp; Security Module</a:t>
            </a:r>
            <a:br>
              <a:rPr lang="en-US" sz="3200" dirty="0"/>
            </a:br>
            <a:r>
              <a:rPr lang="en-US" sz="3200" dirty="0"/>
              <a:t>This module handles user registration and login. It ensures secure access using password encryption and OTP verification. It also manages user roles such as admin and student.</a:t>
            </a:r>
          </a:p>
          <a:p>
            <a:r>
              <a:rPr lang="en-US" sz="3200" b="1" dirty="0"/>
              <a:t>2. Event Management Module</a:t>
            </a:r>
            <a:br>
              <a:rPr lang="en-US" sz="3200" dirty="0"/>
            </a:br>
            <a:r>
              <a:rPr lang="en-US" sz="3200" dirty="0"/>
              <a:t>This module allows administrators to create, update, and manage events. It includes adding event details, scheduling, and controlling participant limits.</a:t>
            </a:r>
          </a:p>
          <a:p>
            <a:r>
              <a:rPr lang="en-US" sz="3200" b="1" dirty="0"/>
              <a:t>3. Event Discovery &amp; Registration Module</a:t>
            </a:r>
            <a:br>
              <a:rPr lang="en-US" sz="3200" dirty="0"/>
            </a:br>
            <a:r>
              <a:rPr lang="en-US" sz="3200" dirty="0"/>
              <a:t>This module enables users to browse available events and register for them. Users can view event details and choose individual or team participation.</a:t>
            </a:r>
          </a:p>
          <a:p>
            <a:r>
              <a:rPr lang="en-US" sz="3200" b="1" dirty="0"/>
              <a:t>4. Attendance &amp; Certification Module</a:t>
            </a:r>
            <a:br>
              <a:rPr lang="en-US" sz="3200" dirty="0"/>
            </a:br>
            <a:r>
              <a:rPr lang="en-US" sz="3200" dirty="0"/>
              <a:t>This module tracks participant attendance and automatically generates certificates. It also sends notifications and updates to users.</a:t>
            </a:r>
          </a:p>
          <a:p>
            <a:pPr>
              <a:lnSpc>
                <a:spcPct val="150000"/>
              </a:lnSpc>
            </a:pPr>
            <a:endParaRPr lang="en-US" sz="3200" dirty="0"/>
          </a:p>
          <a:p>
            <a:pPr algn="just">
              <a:lnSpc>
                <a:spcPct val="150000"/>
              </a:lnSpc>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2" name="AutoShape 2">
            <a:extLst>
              <a:ext uri="{FF2B5EF4-FFF2-40B4-BE49-F238E27FC236}">
                <a16:creationId xmlns:a16="http://schemas.microsoft.com/office/drawing/2014/main" id="{3B9F3749-90A8-FF6F-8FBA-4DB0E233245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a:extLst>
              <a:ext uri="{FF2B5EF4-FFF2-40B4-BE49-F238E27FC236}">
                <a16:creationId xmlns:a16="http://schemas.microsoft.com/office/drawing/2014/main" id="{80137933-5D54-83E6-18BF-14861F67E2FA}"/>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6">
            <a:extLst>
              <a:ext uri="{FF2B5EF4-FFF2-40B4-BE49-F238E27FC236}">
                <a16:creationId xmlns:a16="http://schemas.microsoft.com/office/drawing/2014/main" id="{C101BD1D-A626-E159-53F0-653EA4FAC55F}"/>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8">
            <a:extLst>
              <a:ext uri="{FF2B5EF4-FFF2-40B4-BE49-F238E27FC236}">
                <a16:creationId xmlns:a16="http://schemas.microsoft.com/office/drawing/2014/main" id="{8791164A-67B1-072B-517D-505BA2A7126A}"/>
              </a:ext>
            </a:extLst>
          </p:cNvPr>
          <p:cNvSpPr>
            <a:spLocks noChangeAspect="1" noChangeArrowheads="1"/>
          </p:cNvSpPr>
          <p:nvPr/>
        </p:nvSpPr>
        <p:spPr bwMode="auto">
          <a:xfrm>
            <a:off x="6858000" y="2857500"/>
            <a:ext cx="2895600" cy="2895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6" name="Picture 45">
            <a:extLst>
              <a:ext uri="{FF2B5EF4-FFF2-40B4-BE49-F238E27FC236}">
                <a16:creationId xmlns:a16="http://schemas.microsoft.com/office/drawing/2014/main" id="{30922683-322B-C5D4-6A07-25C29F50B6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1603504"/>
            <a:ext cx="12192000" cy="4258935"/>
          </a:xfrm>
          <a:prstGeom prst="rect">
            <a:avLst/>
          </a:prstGeom>
        </p:spPr>
      </p:pic>
      <p:sp>
        <p:nvSpPr>
          <p:cNvPr id="48" name="TextBox 47">
            <a:extLst>
              <a:ext uri="{FF2B5EF4-FFF2-40B4-BE49-F238E27FC236}">
                <a16:creationId xmlns:a16="http://schemas.microsoft.com/office/drawing/2014/main" id="{8C61FB48-E167-67C9-A098-9EC122A25187}"/>
              </a:ext>
            </a:extLst>
          </p:cNvPr>
          <p:cNvSpPr txBox="1"/>
          <p:nvPr/>
        </p:nvSpPr>
        <p:spPr>
          <a:xfrm>
            <a:off x="1981200" y="6838771"/>
            <a:ext cx="15431622" cy="1877437"/>
          </a:xfrm>
          <a:prstGeom prst="rect">
            <a:avLst/>
          </a:prstGeom>
          <a:noFill/>
        </p:spPr>
        <p:txBody>
          <a:bodyPr wrap="square">
            <a:spAutoFit/>
          </a:bodyPr>
          <a:lstStyle/>
          <a:p>
            <a:pPr>
              <a:buNone/>
            </a:pPr>
            <a:r>
              <a:rPr lang="en-US" sz="2800" dirty="0"/>
              <a:t>The Sign Up process allows users to create an account by entering details like name, email, phone number, and password an OTP is sent to verify the user’s identity and ensure </a:t>
            </a:r>
            <a:r>
              <a:rPr lang="en-US" sz="2800" dirty="0" err="1"/>
              <a:t>security,after</a:t>
            </a:r>
            <a:r>
              <a:rPr lang="en-US" sz="2800" dirty="0"/>
              <a:t> successful verification, the account is created and stored in the database.</a:t>
            </a:r>
            <a:br>
              <a:rPr lang="en-US" sz="2800" dirty="0"/>
            </a:br>
            <a:r>
              <a:rPr lang="en-US" sz="2800" dirty="0"/>
              <a:t>Users can then log in and access the platform features</a:t>
            </a:r>
            <a:r>
              <a:rPr lang="en-US" sz="3200" dirty="0"/>
              <a:t>.</a:t>
            </a: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9448740"/>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algn="just"/>
            <a:r>
              <a:rPr lang="en-US" sz="2800" dirty="0"/>
              <a:t>The Student Dashboard provides a personalized view after successful login.</a:t>
            </a:r>
            <a:br>
              <a:rPr lang="en-US" sz="2800" dirty="0"/>
            </a:br>
            <a:r>
              <a:rPr lang="en-US" sz="2800" dirty="0"/>
              <a:t>It displays a welcome message and allows users to access available events.</a:t>
            </a:r>
            <a:br>
              <a:rPr lang="en-US" sz="2800" dirty="0"/>
            </a:br>
            <a:r>
              <a:rPr lang="en-US" sz="2800" dirty="0"/>
              <a:t>Students can view, register, and track their participation in events.</a:t>
            </a:r>
            <a:br>
              <a:rPr lang="en-US" sz="2800" dirty="0"/>
            </a:br>
            <a:r>
              <a:rPr lang="en-US" sz="2800" dirty="0"/>
              <a:t>The dashboard is simple, organized, and user-friendly for easy navigation.</a:t>
            </a:r>
          </a:p>
          <a:p>
            <a:pPr algn="just"/>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F96B9F60-5989-3638-661B-C71F64E550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4962" y="2475171"/>
            <a:ext cx="12192000" cy="4178723"/>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95509" y="1733242"/>
            <a:ext cx="15082325" cy="12157174"/>
          </a:xfrm>
          <a:prstGeom prst="rect">
            <a:avLst/>
          </a:prstGeom>
          <a:noFill/>
        </p:spPr>
        <p:txBody>
          <a:bodyPr wrap="square" rtlCol="0">
            <a:spAutoFit/>
          </a:bodyPr>
          <a:lstStyle/>
          <a:p>
            <a:r>
              <a:rPr lang="en-IN" sz="2800" dirty="0"/>
              <a:t>Main Module:</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r>
              <a:rPr lang="en-US" sz="2800" dirty="0"/>
              <a:t>The Event Dashboard displays a list of available events in a structured format users can view event details such as title, date, description, and type it allows users to explore and select events based on their </a:t>
            </a:r>
            <a:r>
              <a:rPr lang="en-US" sz="2800" dirty="0" err="1"/>
              <a:t>interests,The</a:t>
            </a:r>
            <a:r>
              <a:rPr lang="en-US" sz="2800" dirty="0"/>
              <a:t> interface is simple and helps in easy event discovery and navigation.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r>
              <a:rPr lang="en-IN" sz="2800" dirty="0"/>
              <a:t>m</a:t>
            </a:r>
          </a:p>
        </p:txBody>
      </p:sp>
      <p:pic>
        <p:nvPicPr>
          <p:cNvPr id="4" name="Picture 3">
            <a:extLst>
              <a:ext uri="{FF2B5EF4-FFF2-40B4-BE49-F238E27FC236}">
                <a16:creationId xmlns:a16="http://schemas.microsoft.com/office/drawing/2014/main" id="{C6C9F75D-4462-40B0-C5C0-8CFF687BBD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2475171"/>
            <a:ext cx="12192000" cy="5078143"/>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470087" y="1590305"/>
            <a:ext cx="15082325" cy="12711172"/>
          </a:xfrm>
          <a:prstGeom prst="rect">
            <a:avLst/>
          </a:prstGeom>
          <a:noFill/>
        </p:spPr>
        <p:txBody>
          <a:bodyPr wrap="square" rtlCol="0">
            <a:spAutoFit/>
          </a:bodyPr>
          <a:lstStyle/>
          <a:p>
            <a:r>
              <a:rPr lang="en-US" sz="2800" dirty="0"/>
              <a:t>Output:</a:t>
            </a:r>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endParaRPr lang="en-US" sz="2800" dirty="0"/>
          </a:p>
          <a:p>
            <a:r>
              <a:rPr lang="en-US" sz="2800" dirty="0"/>
              <a:t>The Registration page allows users to enroll in selected events users can choose individual or team participation and enter required details the system processes the registration and confirms successful enrollment it ensures a simple and smooth event registration experience</a:t>
            </a:r>
            <a:r>
              <a:rPr lang="en-US" sz="3200" dirty="0"/>
              <a:t>.</a:t>
            </a:r>
          </a:p>
          <a:p>
            <a:endParaRPr lang="en-US" sz="32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078BFDF5-9F55-0FC1-5573-0DA4CAB359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2681228"/>
            <a:ext cx="12192000" cy="474827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72751DA-07A0-C364-4277-13DADEDDC48F}"/>
              </a:ext>
            </a:extLst>
          </p:cNvPr>
          <p:cNvSpPr>
            <a:spLocks noChangeArrowheads="1"/>
          </p:cNvSpPr>
          <p:nvPr/>
        </p:nvSpPr>
        <p:spPr bwMode="auto">
          <a:xfrm rot="10800000" flipV="1">
            <a:off x="1775691" y="1313089"/>
            <a:ext cx="14604107" cy="6678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3200" b="1" dirty="0"/>
          </a:p>
          <a:p>
            <a:pPr marL="457200" indent="-457200">
              <a:buFont typeface="Arial" panose="020B0604020202020204" pitchFamily="34" charset="0"/>
              <a:buChar char="•"/>
            </a:pPr>
            <a:r>
              <a:rPr lang="en-US" sz="4400" dirty="0"/>
              <a:t>Provides a centralized platform for managing all campus events</a:t>
            </a:r>
          </a:p>
          <a:p>
            <a:pPr marL="457200" indent="-457200">
              <a:buFont typeface="Arial" panose="020B0604020202020204" pitchFamily="34" charset="0"/>
              <a:buChar char="•"/>
            </a:pPr>
            <a:r>
              <a:rPr lang="en-US" sz="4400" dirty="0"/>
              <a:t>Reduces manual work through automation of registration and attendance</a:t>
            </a:r>
          </a:p>
          <a:p>
            <a:pPr marL="457200" indent="-457200">
              <a:buFont typeface="Arial" panose="020B0604020202020204" pitchFamily="34" charset="0"/>
              <a:buChar char="•"/>
            </a:pPr>
            <a:r>
              <a:rPr lang="en-US" sz="4400" dirty="0"/>
              <a:t>Improves accuracy and minimizes human errors</a:t>
            </a:r>
          </a:p>
          <a:p>
            <a:pPr marL="457200" indent="-457200">
              <a:buFont typeface="Arial" panose="020B0604020202020204" pitchFamily="34" charset="0"/>
              <a:buChar char="•"/>
            </a:pPr>
            <a:r>
              <a:rPr lang="en-US" sz="4400" dirty="0"/>
              <a:t>Offers a simple and user-friendly interface for users</a:t>
            </a:r>
          </a:p>
          <a:p>
            <a:pPr marL="457200" indent="-457200">
              <a:buFont typeface="Arial" panose="020B0604020202020204" pitchFamily="34" charset="0"/>
              <a:buChar char="•"/>
            </a:pPr>
            <a:r>
              <a:rPr lang="en-US" sz="4400" dirty="0"/>
              <a:t>Requires internet connectivity for access</a:t>
            </a:r>
          </a:p>
          <a:p>
            <a:pPr marL="457200" indent="-457200">
              <a:buFont typeface="Arial" panose="020B0604020202020204" pitchFamily="34" charset="0"/>
              <a:buChar char="•"/>
            </a:pPr>
            <a:r>
              <a:rPr lang="en-US" sz="4400" dirty="0"/>
              <a:t>Initial setup and maintenance may take time</a:t>
            </a:r>
          </a:p>
          <a:p>
            <a:pPr marL="457200" indent="-457200">
              <a:buFont typeface="Arial" panose="020B0604020202020204" pitchFamily="34" charset="0"/>
              <a:buChar char="•"/>
            </a:pPr>
            <a:r>
              <a:rPr lang="en-US" sz="4400" dirty="0"/>
              <a:t>Limited to campus-level usage unless further enhanced</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892</TotalTime>
  <Words>1246</Words>
  <Application>Microsoft Office PowerPoint</Application>
  <PresentationFormat>Custom</PresentationFormat>
  <Paragraphs>237</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Arial</vt:lpstr>
      <vt:lpstr>Gotham</vt:lpstr>
      <vt:lpstr>Times New Roman</vt:lpstr>
      <vt:lpstr>Gotham Bold Italics</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rushi kesava reddy</dc:creator>
  <cp:lastModifiedBy>Vaishnavi Reddy Vennapusa</cp:lastModifiedBy>
  <cp:revision>20</cp:revision>
  <dcterms:created xsi:type="dcterms:W3CDTF">2006-08-16T00:00:00Z</dcterms:created>
  <dcterms:modified xsi:type="dcterms:W3CDTF">2026-05-06T04:25:14Z</dcterms:modified>
  <dc:identifier>DAHCaYqJ9OU</dc:identifier>
</cp:coreProperties>
</file>